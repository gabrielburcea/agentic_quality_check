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solidFill>
            <a:srgbClr val="296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Agentic Quality Check</a:t>
            </a:r>
          </a:p>
          <a:p>
            <a:pPr algn="ctr"/>
            <a:r>
              <a:rPr sz="2800" b="1">
                <a:solidFill>
                  <a:srgbClr val="FFFFFF"/>
                </a:solidFill>
              </a:rPr>
              <a:t>Streamlit RAG Multi-Agent Prototype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3200400"/>
            <a:ext cx="5486400" cy="731520"/>
          </a:xfrm>
          <a:prstGeom prst="rect">
            <a:avLst/>
          </a:prstGeom>
          <a:solidFill>
            <a:srgbClr val="6464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Architecture &amp; Component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54864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46464"/>
                </a:solidFill>
              </a:rPr>
              <a:t>by gb.burcea@gmail.com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0000"/>
                </a:solidFill>
              </a:rPr>
              <a:t>Architecture Layers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7680960" cy="457200"/>
          </a:xfrm>
          <a:prstGeom prst="roundRect">
            <a:avLst/>
          </a:prstGeom>
          <a:solidFill>
            <a:srgbClr val="FF4B4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1. User Interface Layer: Streamlit multi-tab 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7680960" cy="457200"/>
          </a:xfrm>
          <a:prstGeom prst="roundRect">
            <a:avLst/>
          </a:prstGeom>
          <a:solidFill>
            <a:srgbClr val="DC354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2. Ingestion Layer: PDF &amp; CSV upload, preprocessing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7680960" cy="457200"/>
          </a:xfrm>
          <a:prstGeom prst="roundRect">
            <a:avLst/>
          </a:prstGeom>
          <a:solidFill>
            <a:srgbClr val="21B47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3. Data Storage Layer: Vector Store (FAISS) + pandas DataFrame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7680960" cy="457200"/>
          </a:xfrm>
          <a:prstGeom prst="roundRect">
            <a:avLst/>
          </a:prstGeom>
          <a:solidFill>
            <a:srgbClr val="FFC10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4. Retrieval Layer (RAG): Embeddings, chunking, context retrieval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7680960" cy="457200"/>
          </a:xfrm>
          <a:prstGeom prst="roundRect">
            <a:avLst/>
          </a:prstGeom>
          <a:solidFill>
            <a:srgbClr val="007A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5. Agent Orchestration: Numerical, Style, Self-Healing agents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7680960" cy="457200"/>
          </a:xfrm>
          <a:prstGeom prst="roundRect">
            <a:avLst/>
          </a:prstGeom>
          <a:solidFill>
            <a:srgbClr val="FFC10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6. LLM Layer: HuggingFace models (embeddings + generation)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06240"/>
            <a:ext cx="7680960" cy="457200"/>
          </a:xfrm>
          <a:prstGeom prst="roundRect">
            <a:avLst/>
          </a:prstGeom>
          <a:solidFill>
            <a:srgbClr val="FF911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7. Feedback Loop: User validation → self-healing improvement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Layer 1 &amp; 2: User Interface &amp; Ingestion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743200" cy="1371600"/>
          </a:xfrm>
          <a:prstGeom prst="roundRect">
            <a:avLst/>
          </a:prstGeom>
          <a:solidFill>
            <a:srgbClr val="FF4B4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Streamlit App</a:t>
            </a:r>
          </a:p>
          <a:p>
            <a:pPr algn="ctr"/>
          </a:p>
          <a:p>
            <a:pPr algn="ctr"/>
            <a:r>
              <a:rPr sz="1200" b="1">
                <a:solidFill>
                  <a:srgbClr val="FFFFFF"/>
                </a:solidFill>
              </a:rPr>
              <a:t>Tab 1: Document Upload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Tab 2: CSV Upload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Tab 3: Configuration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Tab 4: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1371600"/>
            <a:ext cx="1828800" cy="914400"/>
          </a:xfrm>
          <a:prstGeom prst="rect">
            <a:avLst/>
          </a:prstGeom>
          <a:solidFill>
            <a:srgbClr val="DC354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PDF Upload</a:t>
            </a:r>
          </a:p>
          <a:p>
            <a:pPr algn="ctr"/>
          </a:p>
          <a:p>
            <a:pPr algn="ctr"/>
            <a:r>
              <a:rPr sz="1000" b="1">
                <a:solidFill>
                  <a:srgbClr val="FFFFFF"/>
                </a:solidFill>
              </a:rPr>
              <a:t>• Extract text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• Parse structure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• Identify headlines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560320"/>
            <a:ext cx="1828800" cy="914400"/>
          </a:xfrm>
          <a:prstGeom prst="rect">
            <a:avLst/>
          </a:prstGeom>
          <a:solidFill>
            <a:srgbClr val="7B41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CSV Upload</a:t>
            </a:r>
          </a:p>
          <a:p>
            <a:pPr algn="ctr"/>
          </a:p>
          <a:p>
            <a:pPr algn="ctr"/>
            <a:r>
              <a:rPr sz="1000" b="1">
                <a:solidFill>
                  <a:srgbClr val="FFFFFF"/>
                </a:solidFill>
              </a:rPr>
              <a:t>• Parse with pandas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• Extract schema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• Summary stats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0" y="1828800"/>
            <a:ext cx="91440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0" y="2743200"/>
            <a:ext cx="914400" cy="27432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0" y="1371600"/>
            <a:ext cx="2011680" cy="914400"/>
          </a:xfrm>
          <a:prstGeom prst="roundRect">
            <a:avLst/>
          </a:prstGeom>
          <a:solidFill>
            <a:srgbClr val="21B47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Vector Store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(FAISS/Chroma)</a:t>
            </a:r>
          </a:p>
          <a:p>
            <a:pPr algn="ctr"/>
          </a:p>
          <a:p>
            <a:pPr algn="ctr"/>
            <a:r>
              <a:rPr sz="1000" b="1">
                <a:solidFill>
                  <a:srgbClr val="FFFFFF"/>
                </a:solidFill>
              </a:rPr>
              <a:t>Document chunks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+ embeddings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560320"/>
            <a:ext cx="2011680" cy="914400"/>
          </a:xfrm>
          <a:prstGeom prst="roundRect">
            <a:avLst/>
          </a:prstGeom>
          <a:solidFill>
            <a:srgbClr val="7B41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pandas DataFrame</a:t>
            </a:r>
          </a:p>
          <a:p>
            <a:pPr algn="ctr"/>
          </a:p>
          <a:p>
            <a:pPr algn="ctr"/>
            <a:r>
              <a:rPr sz="1000" b="1">
                <a:solidFill>
                  <a:srgbClr val="FFFFFF"/>
                </a:solidFill>
              </a:rPr>
              <a:t>Structured CSV data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for querying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0" y="1828800"/>
            <a:ext cx="45720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943600" y="3017520"/>
            <a:ext cx="45720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Layer 3 &amp; 4: Data Storage &amp; RAG Retrieval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286000" cy="1188720"/>
          </a:xfrm>
          <a:prstGeom prst="roundRect">
            <a:avLst/>
          </a:prstGeom>
          <a:solidFill>
            <a:srgbClr val="21B47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Vector Store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(FAISS)</a:t>
            </a:r>
          </a:p>
          <a:p>
            <a:pPr algn="ctr"/>
          </a:p>
          <a:p>
            <a:pPr algn="ctr"/>
            <a:r>
              <a:rPr sz="1000" b="1">
                <a:solidFill>
                  <a:srgbClr val="FFFFFF"/>
                </a:solidFill>
              </a:rPr>
              <a:t>• PDF chunks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• Embeddings (384-dim)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• Fast similarity search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560320"/>
            <a:ext cx="2286000" cy="1188720"/>
          </a:xfrm>
          <a:prstGeom prst="roundRect">
            <a:avLst/>
          </a:prstGeom>
          <a:solidFill>
            <a:srgbClr val="7B41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CSV DataFrame</a:t>
            </a:r>
          </a:p>
          <a:p>
            <a:pPr algn="ctr"/>
          </a:p>
          <a:p>
            <a:pPr algn="ctr"/>
            <a:r>
              <a:rPr sz="1000" b="1">
                <a:solidFill>
                  <a:srgbClr val="FFFFFF"/>
                </a:solidFill>
              </a:rPr>
              <a:t>• Structured data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• Column metadata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• Query interface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914400"/>
            <a:ext cx="2103120" cy="822960"/>
          </a:xfrm>
          <a:prstGeom prst="rect">
            <a:avLst/>
          </a:prstGeom>
          <a:solidFill>
            <a:srgbClr val="FFC10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Embedding Model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all-MiniLM-L6-v2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22M params, 90MB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011680"/>
            <a:ext cx="2103120" cy="1371600"/>
          </a:xfrm>
          <a:prstGeom prst="roundRect">
            <a:avLst/>
          </a:prstGeom>
          <a:solidFill>
            <a:srgbClr val="FFC10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RAG Retrieval</a:t>
            </a:r>
          </a:p>
          <a:p>
            <a:pPr algn="ctr"/>
          </a:p>
          <a:p>
            <a:pPr algn="ctr"/>
            <a:r>
              <a:rPr sz="900" b="1">
                <a:solidFill>
                  <a:srgbClr val="FFFFFF"/>
                </a:solidFill>
              </a:rPr>
              <a:t>1. Embed user query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2. Search vector store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3. Retrieve top-k chunks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4. Query CSV data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5. Combine context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645920"/>
            <a:ext cx="2560320" cy="1645920"/>
          </a:xfrm>
          <a:prstGeom prst="round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Retrieved Context</a:t>
            </a:r>
          </a:p>
          <a:p>
            <a:pPr algn="ctr"/>
          </a:p>
          <a:p>
            <a:pPr algn="ctr"/>
            <a:r>
              <a:rPr sz="1000" b="1">
                <a:solidFill>
                  <a:srgbClr val="FFFFFF"/>
                </a:solidFill>
              </a:rPr>
              <a:t>• Relevant document chunks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• CSV data subset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• Metadata</a:t>
            </a:r>
          </a:p>
          <a:p>
            <a:pPr algn="ctr"/>
          </a:p>
          <a:p>
            <a:pPr algn="ctr"/>
            <a:r>
              <a:rPr sz="1000" b="1">
                <a:solidFill>
                  <a:srgbClr val="FFFFFF"/>
                </a:solidFill>
              </a:rPr>
              <a:t>Ready for Agent Analysis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0" y="1645920"/>
            <a:ext cx="457200" cy="36576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743200" y="2743200"/>
            <a:ext cx="457200" cy="36576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03520" y="2560320"/>
            <a:ext cx="64008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Layer 5: Multi-Agent Orchestration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011680" cy="1097280"/>
          </a:xfrm>
          <a:prstGeom prst="round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Retrieved Context</a:t>
            </a:r>
          </a:p>
          <a:p>
            <a:pPr algn="ctr"/>
          </a:p>
          <a:p>
            <a:pPr algn="ctr"/>
            <a:r>
              <a:rPr sz="1000" b="1">
                <a:solidFill>
                  <a:srgbClr val="FFFFFF"/>
                </a:solidFill>
              </a:rPr>
              <a:t>• Document chunks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• CSV data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• Headline 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097280"/>
            <a:ext cx="2286000" cy="822960"/>
          </a:xfrm>
          <a:prstGeom prst="roundRect">
            <a:avLst/>
          </a:prstGeom>
          <a:solidFill>
            <a:srgbClr val="007A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Agent 1: Numerical Accuracy</a:t>
            </a:r>
          </a:p>
          <a:p>
            <a:pPr algn="ctr"/>
          </a:p>
          <a:p>
            <a:pPr algn="ctr"/>
            <a:r>
              <a:rPr sz="900" b="1">
                <a:solidFill>
                  <a:srgbClr val="FFFFFF"/>
                </a:solidFill>
              </a:rPr>
              <a:t>Extract numbers → Query CSV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→ Verify calculations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103120"/>
            <a:ext cx="2286000" cy="822960"/>
          </a:xfrm>
          <a:prstGeom prst="roundRect">
            <a:avLst/>
          </a:prstGeom>
          <a:solidFill>
            <a:srgbClr val="007A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Agent 2: Style &amp; Quality</a:t>
            </a:r>
          </a:p>
          <a:p>
            <a:pPr algn="ctr"/>
          </a:p>
          <a:p>
            <a:pPr algn="ctr"/>
            <a:r>
              <a:rPr sz="900" b="1">
                <a:solidFill>
                  <a:srgbClr val="FFFFFF"/>
                </a:solidFill>
              </a:rPr>
              <a:t>Check grammar, tone,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statistical language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3108960"/>
            <a:ext cx="2286000" cy="822960"/>
          </a:xfrm>
          <a:prstGeom prst="roundRect">
            <a:avLst/>
          </a:prstGeom>
          <a:solidFill>
            <a:srgbClr val="007A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Agent 3: Self-Healing</a:t>
            </a:r>
          </a:p>
          <a:p>
            <a:pPr algn="ctr"/>
          </a:p>
          <a:p>
            <a:pPr algn="ctr"/>
            <a:r>
              <a:rPr sz="900" b="1">
                <a:solidFill>
                  <a:srgbClr val="FFFFFF"/>
                </a:solidFill>
              </a:rPr>
              <a:t>Learn from feedback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→ Improve future checks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0" y="1828800"/>
            <a:ext cx="2011680" cy="1371600"/>
          </a:xfrm>
          <a:prstGeom prst="rect">
            <a:avLst/>
          </a:prstGeom>
          <a:solidFill>
            <a:srgbClr val="FFC10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LLM Layer</a:t>
            </a:r>
          </a:p>
          <a:p>
            <a:pPr algn="ctr"/>
          </a:p>
          <a:p>
            <a:pPr algn="ctr"/>
            <a:r>
              <a:rPr sz="900" b="1">
                <a:solidFill>
                  <a:srgbClr val="FFFFFF"/>
                </a:solidFill>
              </a:rPr>
              <a:t>TinyLlama-1.1B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or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Phi-1.5</a:t>
            </a:r>
          </a:p>
          <a:p>
            <a:pPr algn="ctr"/>
          </a:p>
          <a:p>
            <a:pPr algn="ctr"/>
            <a:r>
              <a:rPr sz="900" b="1">
                <a:solidFill>
                  <a:srgbClr val="FFFFFF"/>
                </a:solidFill>
              </a:rPr>
              <a:t>Text generation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+ reasoning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822960" cy="1371600"/>
          </a:xfrm>
          <a:prstGeom prst="roundRect">
            <a:avLst/>
          </a:prstGeom>
          <a:solidFill>
            <a:srgbClr val="64C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Results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2468880" y="1554480"/>
            <a:ext cx="457200" cy="36576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468880" y="1920240"/>
            <a:ext cx="457200" cy="54864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468880" y="1920240"/>
            <a:ext cx="457200" cy="155448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212080" y="1554480"/>
            <a:ext cx="457200" cy="73152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212080" y="2468880"/>
            <a:ext cx="45720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212080" y="2743200"/>
            <a:ext cx="457200" cy="73152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80960" y="2468880"/>
            <a:ext cx="36576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Layer 6: LLM Layer (HuggingFace Models)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00400" cy="1097280"/>
          </a:xfrm>
          <a:prstGeom prst="roundRect">
            <a:avLst/>
          </a:prstGeom>
          <a:solidFill>
            <a:srgbClr val="FFC10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Embedding Model</a:t>
            </a:r>
          </a:p>
          <a:p>
            <a:pPr algn="ctr"/>
          </a:p>
          <a:p>
            <a:pPr algn="ctr"/>
            <a:r>
              <a:rPr sz="1100" b="1">
                <a:solidFill>
                  <a:srgbClr val="FFFFFF"/>
                </a:solidFill>
              </a:rPr>
              <a:t>all-MiniLM-L6-v2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22M params | 90MB | 384-dim</a:t>
            </a:r>
          </a:p>
          <a:p>
            <a:pPr algn="ctr"/>
          </a:p>
          <a:p>
            <a:pPr algn="ctr"/>
            <a:r>
              <a:rPr sz="1100" b="1">
                <a:solidFill>
                  <a:srgbClr val="FFFFFF"/>
                </a:solidFill>
              </a:rPr>
              <a:t>Use: Convert text → vectors for RAG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43200"/>
            <a:ext cx="3200400" cy="1097280"/>
          </a:xfrm>
          <a:prstGeom prst="roundRect">
            <a:avLst/>
          </a:prstGeom>
          <a:solidFill>
            <a:srgbClr val="007A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Text Generation Model</a:t>
            </a:r>
          </a:p>
          <a:p>
            <a:pPr algn="ctr"/>
          </a:p>
          <a:p>
            <a:pPr algn="ctr"/>
            <a:r>
              <a:rPr sz="1100" b="1">
                <a:solidFill>
                  <a:srgbClr val="FFFFFF"/>
                </a:solidFill>
              </a:rPr>
              <a:t>TinyLlama-1.1B-Chat OR Phi-1.5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1.1-1.3B params | ~3GB</a:t>
            </a:r>
          </a:p>
          <a:p>
            <a:pPr algn="ctr"/>
          </a:p>
          <a:p>
            <a:pPr algn="ctr"/>
            <a:r>
              <a:rPr sz="1100" b="1">
                <a:solidFill>
                  <a:srgbClr val="FFFFFF"/>
                </a:solidFill>
              </a:rPr>
              <a:t>Use: Agent reasoning + text generation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645920"/>
            <a:ext cx="3840480" cy="1920240"/>
          </a:xfrm>
          <a:prstGeom prst="roundRect">
            <a:avLst/>
          </a:prstGeom>
          <a:solidFill>
            <a:srgbClr val="505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Why HuggingFace Models?</a:t>
            </a:r>
          </a:p>
          <a:p>
            <a:pPr algn="ctr"/>
          </a:p>
          <a:p>
            <a:pPr algn="ctr"/>
            <a:r>
              <a:rPr sz="1100" b="1">
                <a:solidFill>
                  <a:srgbClr val="FFFFFF"/>
                </a:solidFill>
              </a:rPr>
              <a:t>✓ Open-source (free)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✓ Run locally (no API costs)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✓ Fits in Community Edition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  (15GB RAM, CPU-only)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✓ No external dependencies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✓ Full control &amp; privacy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Layer 7: Feedback Loop &amp; Self-Healing Agent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103120" cy="1188720"/>
          </a:xfrm>
          <a:prstGeom prst="roundRect">
            <a:avLst/>
          </a:prstGeom>
          <a:solidFill>
            <a:srgbClr val="64C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Results Dashboard</a:t>
            </a:r>
          </a:p>
          <a:p>
            <a:pPr algn="ctr"/>
          </a:p>
          <a:p>
            <a:pPr algn="ctr"/>
            <a:r>
              <a:rPr sz="1000" b="1">
                <a:solidFill>
                  <a:srgbClr val="FFFFFF"/>
                </a:solidFill>
              </a:rPr>
              <a:t>• Numerical checks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• Style checks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• Suggestions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17520" y="1371600"/>
            <a:ext cx="2103120" cy="1188720"/>
          </a:xfrm>
          <a:prstGeom prst="roundRect">
            <a:avLst/>
          </a:prstGeom>
          <a:solidFill>
            <a:srgbClr val="FF911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User Feedback</a:t>
            </a:r>
          </a:p>
          <a:p>
            <a:pPr algn="ctr"/>
          </a:p>
          <a:p>
            <a:pPr algn="ctr"/>
            <a:r>
              <a:rPr sz="1000" b="1">
                <a:solidFill>
                  <a:srgbClr val="FFFFFF"/>
                </a:solidFill>
              </a:rPr>
              <a:t>• Agree/Disagree buttons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• Commentary text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• Corrections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371600"/>
            <a:ext cx="2743200" cy="1188720"/>
          </a:xfrm>
          <a:prstGeom prst="roundRect">
            <a:avLst/>
          </a:prstGeom>
          <a:solidFill>
            <a:srgbClr val="007A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Self-Healing Agent</a:t>
            </a:r>
          </a:p>
          <a:p>
            <a:pPr algn="ctr"/>
          </a:p>
          <a:p>
            <a:pPr algn="ctr"/>
            <a:r>
              <a:rPr sz="900" b="1">
                <a:solidFill>
                  <a:srgbClr val="FFFFFF"/>
                </a:solidFill>
              </a:rPr>
              <a:t>1. Store feedback in vector store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2. Retrieve past corrections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3. Update prompts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4. Re-analyze with learned context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3200400"/>
            <a:ext cx="2743200" cy="914400"/>
          </a:xfrm>
          <a:prstGeom prst="roundRect">
            <a:avLst/>
          </a:prstGeom>
          <a:solidFill>
            <a:srgbClr val="21B47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Feedback → Vector Store</a:t>
            </a:r>
          </a:p>
          <a:p>
            <a:pPr algn="ctr"/>
          </a:p>
          <a:p>
            <a:pPr algn="ctr"/>
            <a:r>
              <a:rPr sz="1000" b="1">
                <a:solidFill>
                  <a:srgbClr val="FFFFFF"/>
                </a:solidFill>
              </a:rPr>
              <a:t>Builds "correction memory"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for continuous improvement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0" y="1920240"/>
            <a:ext cx="45720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120640" y="1920240"/>
            <a:ext cx="54864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4572000" y="2560320"/>
            <a:ext cx="2468880" cy="640080"/>
          </a:xfrm>
          <a:prstGeom prst="line">
            <a:avLst/>
          </a:prstGeom>
          <a:ln w="25400">
            <a:solidFill>
              <a:srgbClr val="FF91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Complete End-to-End Architecture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914400"/>
            <a:ext cx="1097280" cy="640080"/>
          </a:xfrm>
          <a:prstGeom prst="roundRect">
            <a:avLst/>
          </a:prstGeom>
          <a:solidFill>
            <a:srgbClr val="FF4B4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Streamlit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UI</a:t>
            </a:r>
          </a:p>
        </p:txBody>
      </p:sp>
      <p:sp>
        <p:nvSpPr>
          <p:cNvPr id="4" name="Rectangle 3"/>
          <p:cNvSpPr/>
          <p:nvPr/>
        </p:nvSpPr>
        <p:spPr>
          <a:xfrm>
            <a:off x="1554480" y="822960"/>
            <a:ext cx="914400" cy="548640"/>
          </a:xfrm>
          <a:prstGeom prst="rect">
            <a:avLst/>
          </a:prstGeom>
          <a:solidFill>
            <a:srgbClr val="DC354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PDF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Upload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463040"/>
            <a:ext cx="914400" cy="548640"/>
          </a:xfrm>
          <a:prstGeom prst="rect">
            <a:avLst/>
          </a:prstGeom>
          <a:solidFill>
            <a:srgbClr val="7B41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CSV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Upload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822960"/>
            <a:ext cx="1097280" cy="548640"/>
          </a:xfrm>
          <a:prstGeom prst="roundRect">
            <a:avLst/>
          </a:prstGeom>
          <a:solidFill>
            <a:srgbClr val="21B47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Vector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Store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463040"/>
            <a:ext cx="1097280" cy="548640"/>
          </a:xfrm>
          <a:prstGeom prst="roundRect">
            <a:avLst/>
          </a:prstGeom>
          <a:solidFill>
            <a:srgbClr val="7B41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CSV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DataFrame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097280"/>
            <a:ext cx="1188720" cy="731520"/>
          </a:xfrm>
          <a:prstGeom prst="roundRect">
            <a:avLst/>
          </a:prstGeom>
          <a:solidFill>
            <a:srgbClr val="FFC10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RAG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Retrieval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914400"/>
            <a:ext cx="1188720" cy="1097280"/>
          </a:xfrm>
          <a:prstGeom prst="roundRect">
            <a:avLst/>
          </a:prstGeom>
          <a:solidFill>
            <a:srgbClr val="007A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Multi-Agent</a:t>
            </a:r>
          </a:p>
          <a:p>
            <a:pPr algn="ctr"/>
            <a:r>
              <a:rPr sz="800" b="1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0" y="1097280"/>
            <a:ext cx="914400" cy="731520"/>
          </a:xfrm>
          <a:prstGeom prst="rect">
            <a:avLst/>
          </a:prstGeom>
          <a:solidFill>
            <a:srgbClr val="FFC10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LLM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Layer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3200400"/>
            <a:ext cx="1371600" cy="731520"/>
          </a:xfrm>
          <a:prstGeom prst="roundRect">
            <a:avLst/>
          </a:prstGeom>
          <a:solidFill>
            <a:srgbClr val="64C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Results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3200400"/>
            <a:ext cx="1371600" cy="731520"/>
          </a:xfrm>
          <a:prstGeom prst="roundRect">
            <a:avLst/>
          </a:prstGeom>
          <a:solidFill>
            <a:srgbClr val="FF911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User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Feedback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3200400"/>
            <a:ext cx="1371600" cy="731520"/>
          </a:xfrm>
          <a:prstGeom prst="roundRect">
            <a:avLst/>
          </a:prstGeom>
          <a:solidFill>
            <a:srgbClr val="007A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Self-Healing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Agent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371600" y="1097280"/>
            <a:ext cx="182880" cy="9144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371600" y="1188720"/>
            <a:ext cx="182880" cy="54864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468880" y="1097280"/>
            <a:ext cx="27432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468880" y="1737360"/>
            <a:ext cx="27432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840480" y="1371600"/>
            <a:ext cx="27432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303520" y="1371600"/>
            <a:ext cx="27432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766560" y="1371600"/>
            <a:ext cx="27432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2926080" y="2011680"/>
            <a:ext cx="3200400" cy="118872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657600" y="3566160"/>
            <a:ext cx="45720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486400" y="3566160"/>
            <a:ext cx="45720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3291840" y="2011680"/>
            <a:ext cx="3291840" cy="1920240"/>
          </a:xfrm>
          <a:prstGeom prst="line">
            <a:avLst/>
          </a:prstGeom>
          <a:ln w="31750">
            <a:solidFill>
              <a:srgbClr val="FF91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RAG Deep Dive: Why &amp; How It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840480" cy="1828800"/>
          </a:xfrm>
          <a:prstGeom prst="roundRect">
            <a:avLst/>
          </a:prstGeom>
          <a:solidFill>
            <a:srgbClr val="FFC10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Why RAG?</a:t>
            </a:r>
          </a:p>
          <a:p>
            <a:pPr algn="ctr"/>
          </a:p>
          <a:p>
            <a:pPr algn="ctr"/>
            <a:r>
              <a:rPr sz="1100" b="1">
                <a:solidFill>
                  <a:srgbClr val="FFFFFF"/>
                </a:solidFill>
              </a:rPr>
              <a:t>✓ Grounds LLM in actual document content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✓ Reduces hallucination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✓ Provides evidence trail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✓ Handles long documents (chunking)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✓ Enables semantic search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✓ Retrieves only relevant context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097280"/>
            <a:ext cx="3840480" cy="1828800"/>
          </a:xfrm>
          <a:prstGeom prst="roundRect">
            <a:avLst/>
          </a:prstGeom>
          <a:solidFill>
            <a:srgbClr val="FFC10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How RAG Works:</a:t>
            </a:r>
          </a:p>
          <a:p>
            <a:pPr algn="ctr"/>
          </a:p>
          <a:p>
            <a:pPr algn="ctr"/>
            <a:r>
              <a:rPr sz="900" b="1">
                <a:solidFill>
                  <a:srgbClr val="FFFFFF"/>
                </a:solidFill>
              </a:rPr>
              <a:t>1. Chunk PDF into sections (200-500 words)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2. Embed chunks with all-MiniLM-L6-v2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3. Store embeddings in FAISS index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4. User selects headline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5. Embed headline query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6. Search FAISS for top-k similar chunks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7. Pass chunks + CSV data to agents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3200400"/>
            <a:ext cx="5486400" cy="1371600"/>
          </a:xfrm>
          <a:prstGeom prst="roundRect">
            <a:avLst/>
          </a:prstGeom>
          <a:solidFill>
            <a:srgbClr val="21B47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Vector Store = Memory for Documents</a:t>
            </a:r>
          </a:p>
          <a:p>
            <a:pPr algn="ctr"/>
          </a:p>
          <a:p>
            <a:pPr algn="ctr"/>
            <a:r>
              <a:rPr sz="1100" b="1">
                <a:solidFill>
                  <a:srgbClr val="FFFFFF"/>
                </a:solidFill>
              </a:rPr>
              <a:t>FAISS (Facebook AI Similarity Search)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Fast nearest-neighbor search in 384-dimensional space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Enables: "Find chunks similar to this headline"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Component Relationships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7315200" cy="548640"/>
          </a:xfrm>
          <a:prstGeom prst="roundRect">
            <a:avLst/>
          </a:prstGeom>
          <a:solidFill>
            <a:srgbClr val="FF4B4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Streamlit ↔ User: Multi-tab interface for uploads, config,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7315200" cy="548640"/>
          </a:xfrm>
          <a:prstGeom prst="roundRect">
            <a:avLst/>
          </a:prstGeom>
          <a:solidFill>
            <a:srgbClr val="21B47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PDF/CSV → Storage: Files processed → Vector Store + DataFrame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377439"/>
            <a:ext cx="7315200" cy="548640"/>
          </a:xfrm>
          <a:prstGeom prst="roundRect">
            <a:avLst/>
          </a:prstGeom>
          <a:solidFill>
            <a:srgbClr val="FFC10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Vector Store ↔ RAG: Embeddings enable semantic search &amp; retrieval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017520"/>
            <a:ext cx="7315200" cy="548640"/>
          </a:xfrm>
          <a:prstGeom prst="roundRect">
            <a:avLst/>
          </a:prstGeom>
          <a:solidFill>
            <a:srgbClr val="007A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RAG → Agents: Retrieved context fed to agents for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657600"/>
            <a:ext cx="7315200" cy="548640"/>
          </a:xfrm>
          <a:prstGeom prst="roundRect">
            <a:avLst/>
          </a:prstGeom>
          <a:solidFill>
            <a:srgbClr val="FFC10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Agents ↔ LLM: Agents use LLM for reasoning &amp; text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297680"/>
            <a:ext cx="7315200" cy="548640"/>
          </a:xfrm>
          <a:prstGeom prst="roundRect">
            <a:avLst/>
          </a:prstGeom>
          <a:solidFill>
            <a:srgbClr val="64C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Results → User: Agents output displayed in interactive tables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937760"/>
            <a:ext cx="7315200" cy="548640"/>
          </a:xfrm>
          <a:prstGeom prst="roundRect">
            <a:avLst/>
          </a:prstGeom>
          <a:solidFill>
            <a:srgbClr val="FF911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User → Self-Healing: Feedback stored in vector store, improves future 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577840"/>
            <a:ext cx="7315200" cy="548640"/>
          </a:xfrm>
          <a:prstGeom prst="roundRect">
            <a:avLst/>
          </a:prstGeom>
          <a:solidFill>
            <a:srgbClr val="21B47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Self-Healing → Vector Store: Builds correction memory over 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Technology Stack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560320" cy="1371600"/>
          </a:xfrm>
          <a:prstGeom prst="roundRect">
            <a:avLst/>
          </a:prstGeom>
          <a:solidFill>
            <a:srgbClr val="FF4B4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UI Layer</a:t>
            </a:r>
          </a:p>
          <a:p>
            <a:pPr algn="ctr"/>
          </a:p>
          <a:p>
            <a:pPr algn="ctr"/>
            <a:r>
              <a:rPr sz="1000" b="1">
                <a:solidFill>
                  <a:srgbClr val="FFFFFF"/>
                </a:solidFill>
              </a:rPr>
              <a:t>• Streamlit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• Session state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• File upload widgets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• Interactive tables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1097280"/>
            <a:ext cx="2560320" cy="1371600"/>
          </a:xfrm>
          <a:prstGeom prst="roundRect">
            <a:avLst/>
          </a:prstGeom>
          <a:solidFill>
            <a:srgbClr val="21B47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Data Layer</a:t>
            </a:r>
          </a:p>
          <a:p>
            <a:pPr algn="ctr"/>
          </a:p>
          <a:p>
            <a:pPr algn="ctr"/>
            <a:r>
              <a:rPr sz="1000" b="1">
                <a:solidFill>
                  <a:srgbClr val="FFFFFF"/>
                </a:solidFill>
              </a:rPr>
              <a:t>• PyPDF2 / pdfplumber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• pandas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• FAISS / Chroma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• sentence-transformers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097280"/>
            <a:ext cx="2560320" cy="1371600"/>
          </a:xfrm>
          <a:prstGeom prst="roundRect">
            <a:avLst/>
          </a:prstGeom>
          <a:solidFill>
            <a:srgbClr val="FFC10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AI Layer</a:t>
            </a:r>
          </a:p>
          <a:p>
            <a:pPr algn="ctr"/>
          </a:p>
          <a:p>
            <a:pPr algn="ctr"/>
            <a:r>
              <a:rPr sz="1000" b="1">
                <a:solidFill>
                  <a:srgbClr val="FFFFFF"/>
                </a:solidFill>
              </a:rPr>
              <a:t>• HuggingFace transformers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• TinyLlama / Phi-1.5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• all-MiniLM-L6-v2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• LangChain (optional)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2926080"/>
            <a:ext cx="5486400" cy="1371600"/>
          </a:xfrm>
          <a:prstGeom prst="roundRect">
            <a:avLst/>
          </a:prstGeom>
          <a:solidFill>
            <a:srgbClr val="505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Deployment Options</a:t>
            </a:r>
          </a:p>
          <a:p>
            <a:pPr algn="ctr"/>
          </a:p>
          <a:p>
            <a:pPr algn="ctr"/>
            <a:r>
              <a:rPr sz="1000" b="1">
                <a:solidFill>
                  <a:srgbClr val="FFFFFF"/>
                </a:solidFill>
              </a:rPr>
              <a:t>• Databricks Community Edition (FREE, CPU-only)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• Local development (your hardware)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• Streamlit Cloud (FREE tier with limitations)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Next Steps &amp; Customization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00000"/>
                </a:solidFill>
              </a:rPr>
              <a:t>All diagrams in this presentation are fully editable:</a:t>
            </a:r>
          </a:p>
          <a:p/>
          <a:p>
            <a:r>
              <a:rPr sz="1400">
                <a:solidFill>
                  <a:srgbClr val="000000"/>
                </a:solidFill>
              </a:rPr>
              <a:t>• Click any shape to move, resize, or recolor</a:t>
            </a:r>
          </a:p>
          <a:p>
            <a:r>
              <a:rPr sz="1400">
                <a:solidFill>
                  <a:srgbClr val="000000"/>
                </a:solidFill>
              </a:rPr>
              <a:t>• Edit text by double-clicking shapes</a:t>
            </a:r>
          </a:p>
          <a:p>
            <a:r>
              <a:rPr sz="1400">
                <a:solidFill>
                  <a:srgbClr val="000000"/>
                </a:solidFill>
              </a:rPr>
              <a:t>• Add new shapes from PowerPoint Insert &gt; Shapes</a:t>
            </a:r>
          </a:p>
          <a:p>
            <a:r>
              <a:rPr sz="1400">
                <a:solidFill>
                  <a:srgbClr val="000000"/>
                </a:solidFill>
              </a:rPr>
              <a:t>• Adjust arrows and connectors</a:t>
            </a:r>
          </a:p>
          <a:p>
            <a:r>
              <a:rPr sz="1400">
                <a:solidFill>
                  <a:srgbClr val="000000"/>
                </a:solidFill>
              </a:rPr>
              <a:t>• Customize colors to match your brand</a:t>
            </a:r>
          </a:p>
          <a:p/>
          <a:p>
            <a:r>
              <a:rPr sz="1400">
                <a:solidFill>
                  <a:srgbClr val="000000"/>
                </a:solidFill>
              </a:rPr>
              <a:t>Implementation Roadmap:</a:t>
            </a:r>
          </a:p>
          <a:p/>
          <a:p>
            <a:r>
              <a:rPr sz="1400">
                <a:solidFill>
                  <a:srgbClr val="000000"/>
                </a:solidFill>
              </a:rPr>
              <a:t>1. Set up Streamlit app structure (app.py)</a:t>
            </a:r>
          </a:p>
          <a:p>
            <a:r>
              <a:rPr sz="1400">
                <a:solidFill>
                  <a:srgbClr val="000000"/>
                </a:solidFill>
              </a:rPr>
              <a:t>2. Implement PDF &amp; CSV processing</a:t>
            </a:r>
          </a:p>
          <a:p>
            <a:r>
              <a:rPr sz="1400">
                <a:solidFill>
                  <a:srgbClr val="000000"/>
                </a:solidFill>
              </a:rPr>
              <a:t>3. Build vector store with FAISS</a:t>
            </a:r>
          </a:p>
          <a:p>
            <a:r>
              <a:rPr sz="1400">
                <a:solidFill>
                  <a:srgbClr val="000000"/>
                </a:solidFill>
              </a:rPr>
              <a:t>4. Develop three agents (Numerical, Style, Self-Healing)</a:t>
            </a:r>
          </a:p>
          <a:p>
            <a:r>
              <a:rPr sz="1400">
                <a:solidFill>
                  <a:srgbClr val="000000"/>
                </a:solidFill>
              </a:rPr>
              <a:t>5. Integrate LLM models (HuggingFace)</a:t>
            </a:r>
          </a:p>
          <a:p>
            <a:r>
              <a:rPr sz="1400">
                <a:solidFill>
                  <a:srgbClr val="000000"/>
                </a:solidFill>
              </a:rPr>
              <a:t>6. Create interactive results dashboard</a:t>
            </a:r>
          </a:p>
          <a:p>
            <a:r>
              <a:rPr sz="1400">
                <a:solidFill>
                  <a:srgbClr val="000000"/>
                </a:solidFill>
              </a:rPr>
              <a:t>7. Implement feedback loop</a:t>
            </a:r>
          </a:p>
          <a:p/>
          <a:p>
            <a:r>
              <a:rPr sz="1400">
                <a:solidFill>
                  <a:srgbClr val="000000"/>
                </a:solidFill>
              </a:rPr>
              <a:t>See REQUIREMENTS.md for detailed 7-phase implementation plan!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