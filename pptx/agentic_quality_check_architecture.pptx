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38"/>
  </p:normalViewPr>
  <p:slideViewPr>
    <p:cSldViewPr snapToGrid="0" snapToObjects="1">
      <p:cViewPr varScale="1">
        <p:scale>
          <a:sx n="113" d="100"/>
          <a:sy n="113" d="100"/>
        </p:scale>
        <p:origin x="169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123802"/>
            <a:ext cx="814493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Agentic RAG Quality Checker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LangChain</a:t>
            </a:r>
            <a:r>
              <a:rPr dirty="0"/>
              <a:t> + </a:t>
            </a:r>
            <a:r>
              <a:rPr dirty="0" err="1"/>
              <a:t>LangGraph</a:t>
            </a:r>
            <a:r>
              <a:rPr dirty="0"/>
              <a:t> Multi-Agent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  <a:latin typeface="Segoe UI"/>
              </a:rPr>
              <a:t>Dual-Path Design: </a:t>
            </a:r>
            <a:r>
              <a:rPr sz="2000" b="1">
                <a:solidFill>
                  <a:srgbClr val="00D4AA"/>
                </a:solidFill>
                <a:latin typeface="Segoe UI"/>
              </a:rPr>
              <a:t>Free/Open-Source</a:t>
            </a:r>
            <a:r>
              <a:rPr sz="2000">
                <a:solidFill>
                  <a:srgbClr val="FFFFFF"/>
                </a:solidFill>
                <a:latin typeface="Segoe UI"/>
              </a:rPr>
              <a:t> ↔ </a:t>
            </a:r>
            <a:r>
              <a:rPr sz="2000" b="1">
                <a:solidFill>
                  <a:srgbClr val="FF6B35"/>
                </a:solidFill>
                <a:latin typeface="Segoe UI"/>
              </a:rPr>
              <a:t>Databricks Enterprise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Complete 4-Layer 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54480" y="1165860"/>
            <a:ext cx="6296942" cy="371404"/>
          </a:xfrm>
          <a:prstGeom prst="roundRect">
            <a:avLst/>
          </a:prstGeom>
          <a:solidFill>
            <a:srgbClr val="C8C8C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2332"/>
                </a:solidFill>
                <a:latin typeface="Segoe UI"/>
              </a:defRPr>
            </a:pPr>
            <a:r>
              <a:t>Layer 1: Document Ingestion &amp; Preprocessing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54480" y="1623060"/>
            <a:ext cx="3017520" cy="685800"/>
          </a:xfrm>
          <a:prstGeom prst="roundRect">
            <a:avLst/>
          </a:prstGeom>
          <a:solidFill>
            <a:srgbClr val="00D4A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2332"/>
                </a:solidFill>
                <a:latin typeface="Segoe UI"/>
              </a:defRPr>
            </a:pPr>
            <a:r>
              <a:rPr dirty="0"/>
              <a:t>PyPDF2</a:t>
            </a:r>
          </a:p>
          <a:p>
            <a:r>
              <a:rPr lang="en-GB" dirty="0"/>
              <a:t>               </a:t>
            </a:r>
            <a:r>
              <a:rPr dirty="0"/>
              <a:t>Local Storage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623060"/>
            <a:ext cx="3017520" cy="685800"/>
          </a:xfrm>
          <a:prstGeom prst="roundRect">
            <a:avLst/>
          </a:prstGeom>
          <a:solidFill>
            <a:srgbClr val="FF6B3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2332"/>
                </a:solidFill>
                <a:latin typeface="Segoe UI"/>
              </a:defRPr>
            </a:pPr>
            <a:r>
              <a:rPr dirty="0" err="1"/>
              <a:t>LangChain</a:t>
            </a:r>
            <a:r>
              <a:rPr dirty="0"/>
              <a:t> Loader</a:t>
            </a:r>
          </a:p>
          <a:p>
            <a:r>
              <a:rPr lang="en-GB" dirty="0"/>
              <a:t>               </a:t>
            </a:r>
            <a:r>
              <a:rPr dirty="0"/>
              <a:t>UC Volumes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2286000"/>
            <a:ext cx="0" cy="27432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554480" y="2537460"/>
            <a:ext cx="6296942" cy="289560"/>
          </a:xfrm>
          <a:prstGeom prst="roundRect">
            <a:avLst/>
          </a:prstGeom>
          <a:solidFill>
            <a:srgbClr val="C8C8C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2332"/>
                </a:solidFill>
                <a:latin typeface="Segoe UI"/>
              </a:defRPr>
            </a:pPr>
            <a:r>
              <a:t>Layer 2: RAG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2926080"/>
            <a:ext cx="3017520" cy="685800"/>
          </a:xfrm>
          <a:prstGeom prst="roundRect">
            <a:avLst/>
          </a:prstGeom>
          <a:solidFill>
            <a:srgbClr val="00D4A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2332"/>
                </a:solidFill>
                <a:latin typeface="Segoe UI"/>
              </a:defRPr>
            </a:pPr>
            <a:r>
              <a:rPr dirty="0"/>
              <a:t>sentence-transformers</a:t>
            </a:r>
          </a:p>
          <a:p>
            <a:r>
              <a:rPr lang="en-GB" dirty="0"/>
              <a:t>                 </a:t>
            </a:r>
            <a:r>
              <a:rPr dirty="0"/>
              <a:t>FAISS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926080"/>
            <a:ext cx="3017520" cy="685800"/>
          </a:xfrm>
          <a:prstGeom prst="roundRect">
            <a:avLst/>
          </a:prstGeom>
          <a:solidFill>
            <a:srgbClr val="FF6B3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2332"/>
                </a:solidFill>
                <a:latin typeface="Segoe UI"/>
              </a:defRPr>
            </a:pPr>
            <a:r>
              <a:rPr dirty="0"/>
              <a:t>Foundation Models</a:t>
            </a:r>
          </a:p>
          <a:p>
            <a:r>
              <a:rPr lang="en-GB" dirty="0"/>
              <a:t>             </a:t>
            </a:r>
            <a:r>
              <a:rPr dirty="0"/>
              <a:t>Vector Search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0" y="3657600"/>
            <a:ext cx="0" cy="27432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554480" y="3878580"/>
            <a:ext cx="6217920" cy="320040"/>
          </a:xfrm>
          <a:prstGeom prst="roundRect">
            <a:avLst/>
          </a:prstGeom>
          <a:solidFill>
            <a:srgbClr val="C8C8C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2332"/>
                </a:solidFill>
                <a:latin typeface="Segoe UI"/>
              </a:defRPr>
            </a:pPr>
            <a:r>
              <a:t>Layer 3: Multi-Agent Orchestration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4297680"/>
            <a:ext cx="3017520" cy="685800"/>
          </a:xfrm>
          <a:prstGeom prst="roundRect">
            <a:avLst/>
          </a:prstGeom>
          <a:solidFill>
            <a:srgbClr val="00D4A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2332"/>
                </a:solidFill>
                <a:latin typeface="Segoe UI"/>
              </a:defRPr>
            </a:pPr>
            <a:r>
              <a:rPr dirty="0" err="1"/>
              <a:t>HuggingFace</a:t>
            </a:r>
            <a:r>
              <a:rPr dirty="0"/>
              <a:t> Models</a:t>
            </a:r>
          </a:p>
          <a:p>
            <a:r>
              <a:rPr lang="en-GB" dirty="0"/>
              <a:t>             </a:t>
            </a:r>
            <a:r>
              <a:rPr dirty="0"/>
              <a:t>Local Execution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4297680"/>
            <a:ext cx="3017520" cy="685800"/>
          </a:xfrm>
          <a:prstGeom prst="roundRect">
            <a:avLst/>
          </a:prstGeom>
          <a:solidFill>
            <a:srgbClr val="FF6B3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2332"/>
                </a:solidFill>
                <a:latin typeface="Segoe UI"/>
              </a:defRPr>
            </a:pPr>
            <a:r>
              <a:rPr dirty="0"/>
              <a:t>Foundation Models API</a:t>
            </a:r>
          </a:p>
          <a:p>
            <a:r>
              <a:rPr lang="en-GB" dirty="0"/>
              <a:t>              </a:t>
            </a:r>
            <a:r>
              <a:rPr dirty="0"/>
              <a:t>Serverless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0" y="5029200"/>
            <a:ext cx="0" cy="27432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554480" y="5198816"/>
            <a:ext cx="6217920" cy="320040"/>
          </a:xfrm>
          <a:prstGeom prst="roundRect">
            <a:avLst/>
          </a:prstGeom>
          <a:solidFill>
            <a:srgbClr val="C8C8C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2332"/>
                </a:solidFill>
                <a:latin typeface="Segoe UI"/>
              </a:defRPr>
            </a:pPr>
            <a:r>
              <a:t>Layer 4: User Interface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4480" y="5669280"/>
            <a:ext cx="3017520" cy="685800"/>
          </a:xfrm>
          <a:prstGeom prst="roundRect">
            <a:avLst/>
          </a:prstGeom>
          <a:solidFill>
            <a:srgbClr val="00D4A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2332"/>
                </a:solidFill>
                <a:latin typeface="Segoe UI"/>
              </a:defRPr>
            </a:pPr>
            <a:r>
              <a:rPr dirty="0" err="1"/>
              <a:t>Streamlit</a:t>
            </a:r>
            <a:endParaRPr dirty="0"/>
          </a:p>
          <a:p>
            <a:r>
              <a:rPr lang="en-GB" dirty="0"/>
              <a:t>                 </a:t>
            </a:r>
            <a:r>
              <a:rPr dirty="0"/>
              <a:t>Local/Cloud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5669280"/>
            <a:ext cx="3017520" cy="685800"/>
          </a:xfrm>
          <a:prstGeom prst="roundRect">
            <a:avLst/>
          </a:prstGeom>
          <a:solidFill>
            <a:srgbClr val="FF6B3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2332"/>
                </a:solidFill>
                <a:latin typeface="Segoe UI"/>
              </a:defRPr>
            </a:pPr>
            <a:r>
              <a:rPr dirty="0"/>
              <a:t>Databricks Apps</a:t>
            </a:r>
          </a:p>
          <a:p>
            <a:r>
              <a:rPr lang="en-GB" dirty="0"/>
              <a:t>                 </a:t>
            </a:r>
            <a:r>
              <a:rPr dirty="0"/>
              <a:t>Workspace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Layers 1 &amp; 2: Document Ingestion + RAG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Layer 1: Document Ingestion &amp; Preprocessing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371600" cy="548640"/>
          </a:xfrm>
          <a:prstGeom prst="roundRect">
            <a:avLst/>
          </a:prstGeom>
          <a:solidFill>
            <a:srgbClr val="C8C8C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2332"/>
                </a:solidFill>
                <a:latin typeface="Segoe UI"/>
              </a:defRPr>
            </a:pPr>
            <a:r>
              <a:t>PDF Files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0" y="0"/>
            <a:ext cx="274320" cy="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560320" y="1554480"/>
            <a:ext cx="1371600" cy="548640"/>
          </a:xfrm>
          <a:prstGeom prst="roundRect">
            <a:avLst/>
          </a:prstGeom>
          <a:solidFill>
            <a:srgbClr val="00D4A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2332"/>
                </a:solidFill>
                <a:latin typeface="Segoe UI"/>
              </a:defRPr>
            </a:pPr>
            <a:r>
              <a:t>PyPDF2</a:t>
            </a:r>
          </a:p>
          <a:p>
            <a:r>
              <a:t>Loader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06240" y="0"/>
            <a:ext cx="274320" cy="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80560" y="1554480"/>
            <a:ext cx="1371600" cy="548640"/>
          </a:xfrm>
          <a:prstGeom prst="roundRect">
            <a:avLst/>
          </a:prstGeom>
          <a:solidFill>
            <a:srgbClr val="C8C8C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2332"/>
                </a:solidFill>
                <a:latin typeface="Segoe UI"/>
              </a:defRPr>
            </a:pPr>
            <a:r>
              <a:t>Text</a:t>
            </a:r>
          </a:p>
          <a:p>
            <a:r>
              <a:t>Splitter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0" y="0"/>
            <a:ext cx="274320" cy="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0" y="1554480"/>
            <a:ext cx="1371600" cy="548640"/>
          </a:xfrm>
          <a:prstGeom prst="roundRect">
            <a:avLst/>
          </a:prstGeom>
          <a:solidFill>
            <a:srgbClr val="C8C8C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2332"/>
                </a:solidFill>
                <a:latin typeface="Segoe UI"/>
              </a:defRPr>
            </a:pPr>
            <a:r>
              <a:t>Text</a:t>
            </a:r>
          </a:p>
          <a:p>
            <a:r>
              <a:t>Chunks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631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Storage: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Segoe UI"/>
              </a:defRPr>
            </a:pPr>
            <a:r>
              <a:t>• Free: Local filesystem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3618" y="2606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6B35"/>
                </a:solidFill>
                <a:latin typeface="Segoe UI"/>
              </a:defRPr>
            </a:pPr>
            <a:r>
              <a:rPr dirty="0"/>
              <a:t>• Databricks: Unity Catalog Volumes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702" y="3017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Layer 2: RAG Pipeline (Embedding + Vector Store + Retrieval)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66160"/>
            <a:ext cx="2468880" cy="365760"/>
          </a:xfrm>
          <a:prstGeom prst="roundRect">
            <a:avLst/>
          </a:prstGeom>
          <a:solidFill>
            <a:srgbClr val="C8C8C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2332"/>
                </a:solidFill>
                <a:latin typeface="Segoe UI"/>
              </a:defRPr>
            </a:pPr>
            <a:r>
              <a:rPr dirty="0"/>
              <a:t>Embedding Generation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2286000" cy="640080"/>
          </a:xfrm>
          <a:prstGeom prst="roundRect">
            <a:avLst/>
          </a:prstGeom>
          <a:solidFill>
            <a:srgbClr val="00D4A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A2332"/>
                </a:solidFill>
                <a:latin typeface="Segoe UI"/>
              </a:defRPr>
            </a:pPr>
            <a:r>
              <a:rPr dirty="0"/>
              <a:t>Free:</a:t>
            </a:r>
          </a:p>
          <a:p>
            <a:r>
              <a:rPr sz="1200" dirty="0"/>
              <a:t>sentence-transformers</a:t>
            </a:r>
          </a:p>
          <a:p>
            <a:r>
              <a:rPr sz="1200" dirty="0"/>
              <a:t>384-dim vectors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2286000" cy="640080"/>
          </a:xfrm>
          <a:prstGeom prst="roundRect">
            <a:avLst/>
          </a:prstGeom>
          <a:solidFill>
            <a:srgbClr val="FF6B3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A2332"/>
                </a:solidFill>
                <a:latin typeface="Segoe UI"/>
              </a:defRPr>
            </a:pPr>
            <a:r>
              <a:rPr sz="1200" dirty="0"/>
              <a:t>Databricks:</a:t>
            </a:r>
          </a:p>
          <a:p>
            <a:r>
              <a:rPr sz="1200" dirty="0"/>
              <a:t>Foundation Models</a:t>
            </a:r>
          </a:p>
          <a:p>
            <a:r>
              <a:rPr sz="1200" dirty="0"/>
              <a:t>1024-dim vectors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3566160"/>
            <a:ext cx="2468880" cy="365760"/>
          </a:xfrm>
          <a:prstGeom prst="roundRect">
            <a:avLst/>
          </a:prstGeom>
          <a:solidFill>
            <a:srgbClr val="C8C8C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2332"/>
                </a:solidFill>
                <a:latin typeface="Segoe UI"/>
              </a:defRPr>
            </a:pPr>
            <a:r>
              <a:t>Vector Indexing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4032391"/>
            <a:ext cx="2286000" cy="640080"/>
          </a:xfrm>
          <a:prstGeom prst="roundRect">
            <a:avLst/>
          </a:prstGeom>
          <a:solidFill>
            <a:srgbClr val="00D4A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A2332"/>
                </a:solidFill>
                <a:latin typeface="Segoe UI"/>
              </a:defRPr>
            </a:pPr>
            <a:r>
              <a:rPr dirty="0"/>
              <a:t>Free:</a:t>
            </a:r>
          </a:p>
          <a:p>
            <a:r>
              <a:rPr sz="1200" dirty="0"/>
              <a:t>FAISS</a:t>
            </a:r>
          </a:p>
          <a:p>
            <a:r>
              <a:rPr sz="1200" dirty="0"/>
              <a:t>In-memory, fast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4754880"/>
            <a:ext cx="2286000" cy="640080"/>
          </a:xfrm>
          <a:prstGeom prst="roundRect">
            <a:avLst/>
          </a:prstGeom>
          <a:solidFill>
            <a:srgbClr val="FF6B3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A2332"/>
                </a:solidFill>
                <a:latin typeface="Segoe UI"/>
              </a:defRPr>
            </a:pPr>
            <a:r>
              <a:rPr sz="1200" dirty="0"/>
              <a:t>Databricks:</a:t>
            </a:r>
          </a:p>
          <a:p>
            <a:r>
              <a:rPr sz="1200" dirty="0"/>
              <a:t>Vector Search</a:t>
            </a:r>
          </a:p>
          <a:p>
            <a:r>
              <a:rPr sz="1200" dirty="0"/>
              <a:t>Persistent, scalable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3566160"/>
            <a:ext cx="2468880" cy="365760"/>
          </a:xfrm>
          <a:prstGeom prst="roundRect">
            <a:avLst/>
          </a:prstGeom>
          <a:solidFill>
            <a:srgbClr val="C8C8C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2332"/>
                </a:solidFill>
                <a:latin typeface="Segoe UI"/>
              </a:defRPr>
            </a:pPr>
            <a:r>
              <a:t>Retrieval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4032391"/>
            <a:ext cx="2286000" cy="1371600"/>
          </a:xfrm>
          <a:prstGeom prst="roundRect">
            <a:avLst/>
          </a:prstGeom>
          <a:solidFill>
            <a:srgbClr val="C8C8C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A2332"/>
                </a:solidFill>
                <a:latin typeface="Segoe UI"/>
              </a:defRPr>
            </a:pPr>
            <a:r>
              <a:rPr sz="1200" dirty="0"/>
              <a:t>Query Embedding</a:t>
            </a:r>
          </a:p>
          <a:p>
            <a:r>
              <a:rPr sz="1200" dirty="0"/>
              <a:t>↓</a:t>
            </a:r>
          </a:p>
          <a:p>
            <a:r>
              <a:rPr sz="1200" dirty="0"/>
              <a:t>Similarity Search</a:t>
            </a:r>
          </a:p>
          <a:p>
            <a:r>
              <a:rPr sz="1200" dirty="0"/>
              <a:t>↓</a:t>
            </a:r>
          </a:p>
          <a:p>
            <a:r>
              <a:rPr sz="1200" dirty="0"/>
              <a:t>Top-K Documents</a:t>
            </a:r>
          </a:p>
          <a:p>
            <a:r>
              <a:rPr sz="1200" dirty="0"/>
              <a:t>(with metadata)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Layer 3: Multi-Agent Orchestration (LangGraph)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1371600"/>
            <a:ext cx="2743200" cy="640080"/>
          </a:xfrm>
          <a:prstGeom prst="roundRect">
            <a:avLst/>
          </a:prstGeom>
          <a:solidFill>
            <a:srgbClr val="C8C8C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2332"/>
                </a:solidFill>
                <a:latin typeface="Segoe UI"/>
              </a:defRPr>
            </a:pPr>
            <a:r>
              <a:rPr sz="1200" dirty="0"/>
              <a:t>SUPERVISOR AGENT</a:t>
            </a:r>
          </a:p>
          <a:p>
            <a:r>
              <a:rPr lang="en-GB" sz="1200" dirty="0"/>
              <a:t>                </a:t>
            </a:r>
            <a:r>
              <a:rPr sz="1200" dirty="0"/>
              <a:t>(Routes to workers)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2668693"/>
            <a:ext cx="2286000" cy="1097280"/>
          </a:xfrm>
          <a:prstGeom prst="roundRect">
            <a:avLst/>
          </a:prstGeom>
          <a:solidFill>
            <a:srgbClr val="00D4A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2332"/>
                </a:solidFill>
                <a:latin typeface="Segoe UI"/>
              </a:defRPr>
            </a:pPr>
            <a:r>
              <a:rPr sz="1200" dirty="0"/>
              <a:t>RETRIEVAL</a:t>
            </a:r>
          </a:p>
          <a:p>
            <a:r>
              <a:rPr sz="1200" dirty="0"/>
              <a:t>AGENT</a:t>
            </a:r>
          </a:p>
          <a:p>
            <a:endParaRPr sz="1200" dirty="0"/>
          </a:p>
          <a:p>
            <a:r>
              <a:rPr sz="1200" dirty="0"/>
              <a:t>Calls Layer 2</a:t>
            </a:r>
          </a:p>
          <a:p>
            <a:r>
              <a:rPr sz="1200" dirty="0"/>
              <a:t>RAG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85164" y="2633416"/>
            <a:ext cx="2285998" cy="1188720"/>
          </a:xfrm>
          <a:prstGeom prst="roundRect">
            <a:avLst/>
          </a:prstGeom>
          <a:solidFill>
            <a:srgbClr val="FF6B3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2332"/>
                </a:solidFill>
                <a:latin typeface="Segoe UI"/>
              </a:defRPr>
            </a:pPr>
            <a:r>
              <a:rPr sz="1200" dirty="0"/>
              <a:t>RESPONSE</a:t>
            </a:r>
          </a:p>
          <a:p>
            <a:r>
              <a:rPr sz="1200" dirty="0"/>
              <a:t>GENERATOR</a:t>
            </a:r>
          </a:p>
          <a:p>
            <a:endParaRPr sz="1200" dirty="0"/>
          </a:p>
          <a:p>
            <a:r>
              <a:rPr sz="1200" dirty="0"/>
              <a:t>Context + Question</a:t>
            </a:r>
          </a:p>
          <a:p>
            <a:r>
              <a:rPr sz="1200" dirty="0"/>
              <a:t>→ Answer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1606" y="2668693"/>
            <a:ext cx="2286000" cy="1097280"/>
          </a:xfrm>
          <a:prstGeom prst="roundRect">
            <a:avLst/>
          </a:prstGeom>
          <a:solidFill>
            <a:srgbClr val="00D4A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A2332"/>
                </a:solidFill>
                <a:latin typeface="Segoe UI"/>
              </a:defRPr>
            </a:pPr>
            <a:r>
              <a:rPr sz="1200" dirty="0"/>
              <a:t>QUALITY</a:t>
            </a:r>
          </a:p>
          <a:p>
            <a:r>
              <a:rPr sz="1200" dirty="0"/>
              <a:t>CHECKER</a:t>
            </a:r>
          </a:p>
          <a:p>
            <a:endParaRPr sz="1200" dirty="0"/>
          </a:p>
          <a:p>
            <a:r>
              <a:rPr sz="1200" dirty="0"/>
              <a:t>Evaluates:</a:t>
            </a:r>
          </a:p>
          <a:p>
            <a:r>
              <a:rPr sz="1200" dirty="0"/>
              <a:t>Accuracy, Citations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0" y="2011680"/>
            <a:ext cx="0" cy="118872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011680"/>
            <a:ext cx="0" cy="118872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2011680"/>
            <a:ext cx="0" cy="118872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6217920" y="0"/>
            <a:ext cx="2743200" cy="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632787" y="4017433"/>
            <a:ext cx="13716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69696"/>
                </a:solidFill>
                <a:latin typeface="Segoe UI"/>
              </a:defRPr>
            </a:pPr>
            <a:r>
              <a:rPr dirty="0"/>
              <a:t>Feedback loop</a:t>
            </a:r>
          </a:p>
          <a:p>
            <a:r>
              <a:rPr lang="en-GB" sz="1200" dirty="0">
                <a:solidFill>
                  <a:srgbClr val="FF0000"/>
                </a:solidFill>
              </a:rPr>
              <a:t>          </a:t>
            </a:r>
            <a:r>
              <a:rPr sz="1200" dirty="0">
                <a:solidFill>
                  <a:srgbClr val="FF0000"/>
                </a:solidFill>
              </a:rPr>
              <a:t>(if fail)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6268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LLM Options: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0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Segoe UI"/>
              </a:defRPr>
            </a:pPr>
            <a:r>
              <a:t>• Free: HuggingFace (Mistral-7B, Llama-2) - Local 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125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6B35"/>
                </a:solidFill>
                <a:latin typeface="Segoe UI"/>
              </a:defRPr>
            </a:pPr>
            <a:r>
              <a:t>• Databricks: Foundation Models API (DBRX, Llama 3.1, Mixtral) - Serverless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688" y="603489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C8"/>
                </a:solidFill>
                <a:latin typeface="Segoe UI"/>
              </a:defRPr>
            </a:pPr>
            <a:r>
              <a:rPr dirty="0"/>
              <a:t>State Management (</a:t>
            </a:r>
            <a:r>
              <a:rPr dirty="0" err="1"/>
              <a:t>LangGraph</a:t>
            </a:r>
            <a:r>
              <a:rPr dirty="0"/>
              <a:t>): Conversation history • Retrieved docs • Quality scores • Loop counter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Layer 4 &amp; Key Architectural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Layer 4: User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554480"/>
            <a:ext cx="3017520" cy="365760"/>
          </a:xfrm>
          <a:prstGeom prst="roundRect">
            <a:avLst/>
          </a:prstGeom>
          <a:solidFill>
            <a:srgbClr val="00D4A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2332"/>
                </a:solidFill>
                <a:latin typeface="Segoe UI"/>
              </a:defRPr>
            </a:pPr>
            <a:r>
              <a:t>Streamlit (Free)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093524"/>
            <a:ext cx="2651760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• Chat interface</a:t>
            </a:r>
          </a:p>
          <a:p>
            <a:r>
              <a:rPr sz="1200" dirty="0">
                <a:solidFill>
                  <a:srgbClr val="FF0000"/>
                </a:solidFill>
              </a:rPr>
              <a:t>• Document upload</a:t>
            </a:r>
          </a:p>
          <a:p>
            <a:r>
              <a:rPr sz="1200" dirty="0">
                <a:solidFill>
                  <a:srgbClr val="FF0000"/>
                </a:solidFill>
              </a:rPr>
              <a:t>• Agent trace</a:t>
            </a:r>
          </a:p>
          <a:p>
            <a:r>
              <a:rPr sz="1200" dirty="0">
                <a:solidFill>
                  <a:srgbClr val="FF0000"/>
                </a:solidFill>
              </a:rPr>
              <a:t>• Local or </a:t>
            </a:r>
            <a:r>
              <a:rPr sz="1200" dirty="0" err="1">
                <a:solidFill>
                  <a:srgbClr val="FF0000"/>
                </a:solidFill>
              </a:rPr>
              <a:t>Streamlit</a:t>
            </a:r>
            <a:r>
              <a:rPr sz="1200" dirty="0">
                <a:solidFill>
                  <a:srgbClr val="FF0000"/>
                </a:solidFill>
              </a:rPr>
              <a:t> Cloud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554480"/>
            <a:ext cx="3017520" cy="365760"/>
          </a:xfrm>
          <a:prstGeom prst="roundRect">
            <a:avLst/>
          </a:prstGeom>
          <a:solidFill>
            <a:srgbClr val="FF6B3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2332"/>
                </a:solidFill>
                <a:latin typeface="Segoe UI"/>
              </a:defRPr>
            </a:pPr>
            <a:r>
              <a:t>Databricks Apps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0" y="2078909"/>
            <a:ext cx="26517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rPr sz="1200" dirty="0"/>
              <a:t>• Workspace integration</a:t>
            </a:r>
          </a:p>
          <a:p>
            <a:r>
              <a:rPr sz="1200" dirty="0">
                <a:solidFill>
                  <a:srgbClr val="FF0000"/>
                </a:solidFill>
              </a:rPr>
              <a:t>• Unity Catalog auth</a:t>
            </a:r>
          </a:p>
          <a:p>
            <a:r>
              <a:rPr sz="1200" dirty="0">
                <a:solidFill>
                  <a:srgbClr val="FF0000"/>
                </a:solidFill>
              </a:rPr>
              <a:t>• Direct data access</a:t>
            </a:r>
          </a:p>
          <a:p>
            <a:r>
              <a:rPr sz="1200" dirty="0">
                <a:solidFill>
                  <a:srgbClr val="FF0000"/>
                </a:solidFill>
              </a:rPr>
              <a:t>• Enterprise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79643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Key Architectural Decisions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3840480" cy="320040"/>
          </a:xfrm>
          <a:prstGeom prst="roundRect">
            <a:avLst/>
          </a:prstGeom>
          <a:solidFill>
            <a:srgbClr val="FF6B3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1. Dual-Path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74450"/>
            <a:ext cx="34747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Every component has free and</a:t>
            </a:r>
          </a:p>
          <a:p>
            <a:r>
              <a:rPr sz="1200" dirty="0">
                <a:solidFill>
                  <a:srgbClr val="FF0000"/>
                </a:solidFill>
              </a:rPr>
              <a:t>Databricks options →</a:t>
            </a:r>
          </a:p>
          <a:p>
            <a:r>
              <a:rPr sz="1200" dirty="0">
                <a:solidFill>
                  <a:srgbClr val="FF0000"/>
                </a:solidFill>
              </a:rPr>
              <a:t>Develop on free, scale with 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3636407"/>
            <a:ext cx="3840480" cy="320040"/>
          </a:xfrm>
          <a:prstGeom prst="roundRect">
            <a:avLst/>
          </a:prstGeom>
          <a:solidFill>
            <a:srgbClr val="FF6B3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2. LangChain Abstraction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4143840"/>
            <a:ext cx="34747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Unified API regardless of backend</a:t>
            </a:r>
          </a:p>
          <a:p>
            <a:r>
              <a:rPr sz="1200" dirty="0">
                <a:solidFill>
                  <a:srgbClr val="FF0000"/>
                </a:solidFill>
              </a:rPr>
              <a:t>→ Switch FAISS to Vector Search</a:t>
            </a:r>
          </a:p>
          <a:p>
            <a:r>
              <a:rPr sz="1200" dirty="0">
                <a:solidFill>
                  <a:srgbClr val="FF0000"/>
                </a:solidFill>
              </a:rPr>
              <a:t>without code changes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3840480" cy="320040"/>
          </a:xfrm>
          <a:prstGeom prst="roundRect">
            <a:avLst/>
          </a:prstGeom>
          <a:solidFill>
            <a:srgbClr val="FF6B3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3. LangGraph Orchestration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588437"/>
            <a:ext cx="34747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Stateful, cyclic workflows →</a:t>
            </a:r>
          </a:p>
          <a:p>
            <a:r>
              <a:rPr sz="1200" dirty="0">
                <a:solidFill>
                  <a:srgbClr val="FF0000"/>
                </a:solidFill>
              </a:rPr>
              <a:t>Quality feedback loops impossible</a:t>
            </a:r>
          </a:p>
          <a:p>
            <a:r>
              <a:rPr sz="1200" dirty="0">
                <a:solidFill>
                  <a:srgbClr val="FF0000"/>
                </a:solidFill>
              </a:rPr>
              <a:t>with simple chains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5029200"/>
            <a:ext cx="3840480" cy="320040"/>
          </a:xfrm>
          <a:prstGeom prst="roundRect">
            <a:avLst/>
          </a:prstGeom>
          <a:solidFill>
            <a:srgbClr val="FF6B3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4. Modular Layers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514261"/>
            <a:ext cx="34747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Clear input/output contracts →</a:t>
            </a:r>
          </a:p>
          <a:p>
            <a:r>
              <a:rPr sz="1200" dirty="0">
                <a:solidFill>
                  <a:srgbClr val="FF0000"/>
                </a:solidFill>
              </a:rPr>
              <a:t>Easy to test, debug, and</a:t>
            </a:r>
          </a:p>
          <a:p>
            <a:r>
              <a:rPr sz="1200" dirty="0">
                <a:solidFill>
                  <a:srgbClr val="FF0000"/>
                </a:solidFill>
              </a:rPr>
              <a:t>optimize independently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384</Words>
  <Application>Microsoft Macintosh PowerPoint</Application>
  <PresentationFormat>On-screen Show (4:3)</PresentationFormat>
  <Paragraphs>111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BURCEA Gabriel</cp:lastModifiedBy>
  <cp:revision>2</cp:revision>
  <dcterms:created xsi:type="dcterms:W3CDTF">2013-01-27T09:14:16Z</dcterms:created>
  <dcterms:modified xsi:type="dcterms:W3CDTF">2026-07-04T20:56:49Z</dcterms:modified>
  <cp:category/>
</cp:coreProperties>
</file>